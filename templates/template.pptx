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4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677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8389"/>
            <a:ext cx="62453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master4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320040"/>
            <a:ext cx="21945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4630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Refonte du Module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210312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Scanner</a:t>
            </a:r>
            <a:endParaRPr lang="en-US" sz="5200" dirty="0"/>
          </a:p>
          <a:p>
            <a:pPr marL="0" indent="0">
              <a:buNone/>
            </a:pPr>
            <a:r>
              <a:rPr lang="en-US" sz="5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Vasculaire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502920" y="39776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</a:t>
            </a:r>
            <a:r>
              <a:rPr lang="en-US" sz="1800" i="1" dirty="0" err="1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</a:t>
            </a:r>
            <a:r>
              <a:rPr lang="en-US" sz="18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smtClean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217920" y="13716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continue MERM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195681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10 chapitres structurés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670048"/>
            <a:ext cx="5394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270662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</a:t>
            </a:r>
            <a:r>
              <a:rPr lang="en-US" sz="140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~7h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formation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17920" y="3419856"/>
            <a:ext cx="5394960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345643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Pré-test + Post-test certification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17920" y="4169664"/>
            <a:ext cx="5394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42062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Module urgences transversal (neuro, cardio, vasculaire)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17920" y="4919472"/>
            <a:ext cx="5394960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495604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Gabarit commun — contenu mis à jour </a:t>
            </a:r>
            <a:r>
              <a:rPr lang="en-US" sz="140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2920" y="6217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PARTENAIRE EN FORMATION CONTINUE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ster4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201168"/>
            <a:ext cx="1325880" cy="44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Pourquoi refondre ce module 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234440"/>
            <a:ext cx="2697480" cy="429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234440"/>
            <a:ext cx="2697480" cy="100584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261872"/>
            <a:ext cx="26974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📅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57200" y="22860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daté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5488" y="2834640"/>
            <a:ext cx="247802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original 2020 — IA, Photon Counting CT et NRD ASN 2022 absents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46120" y="1234440"/>
            <a:ext cx="2697480" cy="429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234440"/>
            <a:ext cx="2697480" cy="100584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46120" y="1261872"/>
            <a:ext cx="26974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337560" y="22860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objectifs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355848" y="2834640"/>
            <a:ext cx="247802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objectif pédagogique SMART défini par partie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26480" y="1234440"/>
            <a:ext cx="2697480" cy="429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26480" y="1234440"/>
            <a:ext cx="2697480" cy="100584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1261872"/>
            <a:ext cx="26974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📝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6217920" y="22860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 err="1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r>
              <a:rPr lang="en-US" sz="1500" b="1" dirty="0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1500" b="1" dirty="0" err="1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236208" y="2834640"/>
            <a:ext cx="247802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3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r>
              <a:rPr lang="fr-FR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formatifs et cas cliniques interactifs pour améliorer l’ancrage des connaissances et la validation des acquis.</a:t>
            </a:r>
            <a:endParaRPr lang="en-US" sz="13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006840" y="1234440"/>
            <a:ext cx="2697480" cy="429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006840" y="1234440"/>
            <a:ext cx="2697480" cy="100584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06840" y="1261872"/>
            <a:ext cx="26974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🔧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9098280" y="22860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 err="1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Certaines</a:t>
            </a:r>
            <a:r>
              <a:rPr lang="en-US" sz="15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à </a:t>
            </a:r>
            <a:r>
              <a:rPr lang="en-US" sz="1500" b="1" dirty="0" err="1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moderniser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116568" y="2834640"/>
            <a:ext cx="247802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récentes (IA, Photon </a:t>
            </a:r>
            <a:r>
              <a:rPr lang="fr-FR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</a:t>
            </a:r>
            <a:r>
              <a:rPr lang="fr-FR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CT) et optimisation des protocoles à actualiser.</a:t>
            </a:r>
            <a:endParaRPr lang="en-US" sz="13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65760" y="5669280"/>
            <a:ext cx="11430000" cy="68580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5687568"/>
            <a:ext cx="1115568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Objectif : un module moderne, certifiant, réutilisable sur 3 formations (vasculaire, neuro, cardio)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Refonte Module Scanner Vasculaire — Plan </a:t>
            </a:r>
            <a:r>
              <a:rPr lang="en-US" sz="9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</a:t>
            </a: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144000" y="65745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ster4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201168"/>
            <a:ext cx="1325880" cy="44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27709"/>
            <a:ext cx="12188952" cy="100584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Structure du module — 10 chapitres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 smtClean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~7h </a:t>
            </a:r>
            <a:r>
              <a:rPr lang="en-US" sz="14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total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3493008"/>
            <a:ext cx="11247120" cy="0"/>
          </a:xfrm>
          <a:prstGeom prst="line">
            <a:avLst/>
          </a:prstGeom>
          <a:noFill/>
          <a:ln w="25400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6948" y="3227832"/>
            <a:ext cx="585216" cy="585216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6948" y="32278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4632" y="1737360"/>
            <a:ext cx="1069848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/>
            <a:r>
              <a:rPr lang="en-US" sz="1000" b="1" dirty="0" err="1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r>
              <a:rPr lang="en-US" sz="1000" b="1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000" b="1" dirty="0" err="1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</a:t>
            </a:r>
            <a:r>
              <a:rPr lang="en-US" sz="1000" b="1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-test  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4632" y="2286000"/>
            <a:ext cx="106984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des connaissances initiales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3008375"/>
            <a:ext cx="1033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19556" y="3364992"/>
            <a:ext cx="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51660" y="3227832"/>
            <a:ext cx="585216" cy="585216"/>
          </a:xfrm>
          <a:prstGeom prst="ellipse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51660" y="32278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27632" y="3840480"/>
            <a:ext cx="1033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609344" y="4096512"/>
            <a:ext cx="1069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</a:t>
            </a:r>
            <a:r>
              <a:rPr lang="en-US" sz="1000" b="1" dirty="0" err="1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609344" y="4645152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IA, Photon Counting CT, imagerie spectrale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144268" y="3813048"/>
            <a:ext cx="0" cy="11887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976372" y="3227832"/>
            <a:ext cx="585216" cy="585216"/>
          </a:xfrm>
          <a:prstGeom prst="ellipse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76372" y="32278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734056" y="1737360"/>
            <a:ext cx="1069848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charge patient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734056" y="2286000"/>
            <a:ext cx="106984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</a:t>
            </a:r>
            <a:r>
              <a:rPr lang="en-US" sz="9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d’injection</a:t>
            </a:r>
            <a:r>
              <a:rPr lang="en-US" sz="9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r>
              <a:rPr lang="en-US" sz="9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C.I, </a:t>
            </a:r>
            <a:r>
              <a:rPr lang="en-US" sz="9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r>
              <a:rPr lang="en-US" sz="9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iodés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752344" y="3008375"/>
            <a:ext cx="1033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1h10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268980" y="3364992"/>
            <a:ext cx="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101084" y="3227832"/>
            <a:ext cx="585216" cy="585216"/>
          </a:xfrm>
          <a:prstGeom prst="ellipse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01084" y="32278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877056" y="3840480"/>
            <a:ext cx="1033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858768" y="4096512"/>
            <a:ext cx="1069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</a:t>
            </a:r>
            <a:r>
              <a:rPr lang="en-US" sz="1000" b="1" dirty="0" err="1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cérébral</a:t>
            </a:r>
            <a:r>
              <a:rPr lang="en-US" sz="1000" b="1" dirty="0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1000" b="1" dirty="0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858768" y="4645152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Vascularisation</a:t>
            </a: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cérébrale</a:t>
            </a:r>
            <a:r>
              <a:rPr lang="en-US" sz="9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AVC, perfusion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393692" y="3813048"/>
            <a:ext cx="0" cy="11887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225796" y="3227832"/>
            <a:ext cx="585216" cy="585216"/>
          </a:xfrm>
          <a:prstGeom prst="ellipse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25796" y="32278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983480" y="1737360"/>
            <a:ext cx="1069848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Thorax &amp; </a:t>
            </a:r>
            <a:r>
              <a:rPr lang="en-US" sz="1000" b="1" dirty="0" err="1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Aorte</a:t>
            </a:r>
            <a:r>
              <a:rPr lang="en-US" sz="1000" b="1" dirty="0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983480" y="2286000"/>
            <a:ext cx="106984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EP, dissection, </a:t>
            </a:r>
            <a:r>
              <a:rPr lang="en-US" sz="9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hémoptysie</a:t>
            </a:r>
            <a:r>
              <a:rPr lang="en-US" sz="9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différents</a:t>
            </a:r>
            <a:r>
              <a:rPr lang="en-US" sz="9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temps </a:t>
            </a:r>
            <a:r>
              <a:rPr lang="en-US" sz="9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d’acquisitions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01768" y="3008375"/>
            <a:ext cx="1033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900" b="1" i="1" dirty="0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</a:t>
            </a:r>
            <a:r>
              <a:rPr lang="en-US" sz="900" b="1" i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518404" y="3364992"/>
            <a:ext cx="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50508" y="3227832"/>
            <a:ext cx="585216" cy="585216"/>
          </a:xfrm>
          <a:prstGeom prst="ellipse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50508" y="32278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126480" y="3840480"/>
            <a:ext cx="1033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108192" y="4096512"/>
            <a:ext cx="1069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Abdomen, pelvis &amp; </a:t>
            </a:r>
            <a:r>
              <a:rPr lang="en-US" sz="1000" b="1" dirty="0" err="1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108192" y="4645152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Aorte</a:t>
            </a:r>
            <a:r>
              <a:rPr lang="en-US" sz="9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abdominale</a:t>
            </a:r>
            <a:r>
              <a:rPr lang="en-US" sz="9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artères</a:t>
            </a:r>
            <a:r>
              <a:rPr lang="en-US" sz="9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viscérales</a:t>
            </a:r>
            <a:endParaRPr lang="en-US" sz="900" dirty="0" smtClean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9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</a:t>
            </a:r>
            <a:r>
              <a:rPr lang="en-US" sz="9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arterielle</a:t>
            </a: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portal / tardive, AOMI, </a:t>
            </a:r>
            <a:r>
              <a:rPr lang="en-US" sz="9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saignement</a:t>
            </a:r>
            <a:r>
              <a:rPr lang="en-US" sz="9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643116" y="3813048"/>
            <a:ext cx="0" cy="11887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475220" y="3227832"/>
            <a:ext cx="585216" cy="585216"/>
          </a:xfrm>
          <a:prstGeom prst="ellipse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475220" y="32278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7232904" y="1737360"/>
            <a:ext cx="1069848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 err="1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r>
              <a:rPr lang="en-US" sz="1000" b="1" dirty="0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dose et radioprotection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232904" y="2286000"/>
            <a:ext cx="106984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ALARA, modulation auto, NRD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260336" y="3008375"/>
            <a:ext cx="1033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7767828" y="3364992"/>
            <a:ext cx="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599932" y="3227832"/>
            <a:ext cx="585216" cy="5852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599932" y="32278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8375904" y="3840480"/>
            <a:ext cx="1033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8357616" y="4096512"/>
            <a:ext cx="1069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Urgences &amp; Gestes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8357616" y="4645152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Conduite</a:t>
            </a:r>
            <a:r>
              <a:rPr lang="en-US" sz="9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9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tenir</a:t>
            </a:r>
            <a:r>
              <a:rPr lang="en-US" sz="9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MERM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8892540" y="3813048"/>
            <a:ext cx="0" cy="11887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724644" y="3227832"/>
            <a:ext cx="585216" cy="585216"/>
          </a:xfrm>
          <a:prstGeom prst="ellipse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724644" y="32278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9482328" y="1737360"/>
            <a:ext cx="1069848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&amp; Cas pratiques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9482328" y="2286000"/>
            <a:ext cx="106984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Révision globale, cas cliniques commentés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9509760" y="3008375"/>
            <a:ext cx="1033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</a:t>
            </a:r>
            <a:r>
              <a:rPr lang="en-US" sz="900" b="1" i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10017252" y="3364992"/>
            <a:ext cx="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0849356" y="3227832"/>
            <a:ext cx="585216" cy="585216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0849356" y="32278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10625328" y="3840480"/>
            <a:ext cx="1033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10607040" y="4096512"/>
            <a:ext cx="1069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Post-test &amp; Certification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10607040" y="4645152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finale + délivrance du certificat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11141964" y="3813048"/>
            <a:ext cx="0" cy="11887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371600" y="6199632"/>
            <a:ext cx="201168" cy="201168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1627632" y="618134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Pré-test / Post-test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846320" y="6199632"/>
            <a:ext cx="201168" cy="201168"/>
          </a:xfrm>
          <a:prstGeom prst="ellipse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102352" y="618134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Chapitres de cours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8321040" y="6199632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577072" y="618134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transversal urgences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Refonte Module Scanner Vasculaire — Plan </a:t>
            </a:r>
            <a:r>
              <a:rPr lang="en-US" sz="9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</a:t>
            </a: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75" name="Text 72"/>
          <p:cNvSpPr/>
          <p:nvPr/>
        </p:nvSpPr>
        <p:spPr>
          <a:xfrm>
            <a:off x="9144000" y="65745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ster4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201168"/>
            <a:ext cx="1325880" cy="44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Détail des 10 chapitres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74320" y="1078992"/>
            <a:ext cx="11640312" cy="4983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078992"/>
            <a:ext cx="502920" cy="49834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78992"/>
            <a:ext cx="50292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1106424"/>
            <a:ext cx="3474720" cy="2217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Pré-test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1291590"/>
            <a:ext cx="3474720" cy="221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89120" y="1106424"/>
            <a:ext cx="7406640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 de niveau initial — identifie les lacunes de chaque apprenant avant le cours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1595628"/>
            <a:ext cx="11640312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1616795"/>
            <a:ext cx="502920" cy="470916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1595628"/>
            <a:ext cx="50292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1623060"/>
            <a:ext cx="3474720" cy="2217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scanner </a:t>
            </a:r>
            <a:r>
              <a:rPr lang="en-US" sz="11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1100" b="1" dirty="0" err="1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1808226"/>
            <a:ext cx="3474720" cy="221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389120" y="1623060"/>
            <a:ext cx="7406640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Voxel, pitch, collimation — 4 constructeurs — IA (AiCE, TrueFidelity, Precise Image, FAST 3D AI) — Imagerie spectrale — Photon Counting CT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2112264"/>
            <a:ext cx="11640312" cy="4983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" y="2112264"/>
            <a:ext cx="502920" cy="498348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2112264"/>
            <a:ext cx="50292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2960" y="2139696"/>
            <a:ext cx="3474720" cy="2217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</a:t>
            </a:r>
            <a:r>
              <a:rPr lang="en-US" sz="1100" b="1" dirty="0" err="1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</a:t>
            </a:r>
            <a:r>
              <a:rPr lang="en-US" sz="11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&amp; Injection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2960" y="2324862"/>
            <a:ext cx="3474720" cy="221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1h10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389120" y="2139696"/>
            <a:ext cx="7406640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Protocoles de préparation — Stratégie d'injection — Produits de contraste (ESUR v11.0 2023) — NRD ASN 2022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2628900"/>
            <a:ext cx="11640312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" y="2628900"/>
            <a:ext cx="502920" cy="498348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2628900"/>
            <a:ext cx="50292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" y="2656332"/>
            <a:ext cx="3474720" cy="2217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</a:t>
            </a:r>
            <a:r>
              <a:rPr lang="en-US" sz="11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cérébral &amp; TSA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22960" y="2841498"/>
            <a:ext cx="3474720" cy="221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389120" y="2656332"/>
            <a:ext cx="7406640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 vasculaire cérébrale — </a:t>
            </a:r>
            <a:r>
              <a:rPr lang="en-US" sz="10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Angio</a:t>
            </a: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-TDM </a:t>
            </a:r>
            <a:r>
              <a:rPr lang="en-US" sz="10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</a:t>
            </a: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Polygone</a:t>
            </a:r>
            <a:r>
              <a:rPr lang="en-US" sz="10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0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Willis – </a:t>
            </a:r>
            <a:r>
              <a:rPr lang="en-US" sz="10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Thrombophlébite</a:t>
            </a:r>
            <a:r>
              <a:rPr lang="en-US" sz="10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Temps </a:t>
            </a:r>
            <a:r>
              <a:rPr lang="en-US" sz="10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tardif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4320" y="3145536"/>
            <a:ext cx="11640312" cy="4983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4320" y="3152690"/>
            <a:ext cx="502920" cy="484039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3145536"/>
            <a:ext cx="50292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22960" y="3172968"/>
            <a:ext cx="3474720" cy="2217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Thorax &amp; </a:t>
            </a:r>
            <a:r>
              <a:rPr lang="en-US" sz="1100" b="1" dirty="0" err="1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22960" y="3358134"/>
            <a:ext cx="3474720" cy="221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</a:t>
            </a: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389120" y="3172968"/>
            <a:ext cx="7406640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EP, dissection, hémoptysie, différents temps d’acquisitions</a:t>
            </a:r>
          </a:p>
        </p:txBody>
      </p:sp>
      <p:sp>
        <p:nvSpPr>
          <p:cNvPr id="35" name="Shape 32"/>
          <p:cNvSpPr/>
          <p:nvPr/>
        </p:nvSpPr>
        <p:spPr>
          <a:xfrm>
            <a:off x="274320" y="3662172"/>
            <a:ext cx="11640312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74320" y="3662172"/>
            <a:ext cx="502920" cy="498348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74320" y="3662172"/>
            <a:ext cx="50292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22960" y="3689604"/>
            <a:ext cx="3474720" cy="2217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Abdomen, pelvis &amp; </a:t>
            </a:r>
            <a:r>
              <a:rPr lang="en-US" sz="1100" b="1" dirty="0" err="1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22960" y="3874770"/>
            <a:ext cx="3474720" cy="221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389120" y="3689604"/>
            <a:ext cx="7406640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Aorte</a:t>
            </a: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abdominale</a:t>
            </a: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artères</a:t>
            </a: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viscérales</a:t>
            </a:r>
            <a:r>
              <a:rPr lang="en-US" sz="10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digestif</a:t>
            </a:r>
            <a:r>
              <a:rPr lang="en-US" sz="10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0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</a:t>
            </a:r>
            <a:r>
              <a:rPr lang="en-US" sz="10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</a:t>
            </a:r>
            <a:r>
              <a:rPr lang="en-US" sz="10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artérielle</a:t>
            </a:r>
            <a:r>
              <a:rPr lang="en-US" sz="10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périphérique</a:t>
            </a:r>
            <a:r>
              <a:rPr lang="en-US" sz="10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</a:t>
            </a:r>
            <a:r>
              <a:rPr lang="en-US" sz="10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scanner des </a:t>
            </a:r>
            <a:r>
              <a:rPr lang="en-US" sz="10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</a:t>
            </a:r>
            <a:r>
              <a:rPr lang="en-US" sz="10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0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274320" y="4178808"/>
            <a:ext cx="11640312" cy="4983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74320" y="4178808"/>
            <a:ext cx="502920" cy="498348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74320" y="4178808"/>
            <a:ext cx="50292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822960" y="4206240"/>
            <a:ext cx="3474720" cy="2217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 err="1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r>
              <a:rPr lang="en-US" sz="1100" b="1" dirty="0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dose et radioprotection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22960" y="4391406"/>
            <a:ext cx="3474720" cy="221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389120" y="4206240"/>
            <a:ext cx="7406640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ALARA – optimisation des paramètres – NRD – reconstruction itérative – réduction dose patient</a:t>
            </a:r>
            <a:endParaRPr lang="en-US" sz="10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274320" y="4695444"/>
            <a:ext cx="11640312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74320" y="4695444"/>
            <a:ext cx="502920" cy="4983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74320" y="4695444"/>
            <a:ext cx="50292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822960" y="4722876"/>
            <a:ext cx="3474720" cy="2217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Urgences vasculaires &amp; Gestes d'urgence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822960" y="4908042"/>
            <a:ext cx="3474720" cy="221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4389120" y="4722876"/>
            <a:ext cx="7406640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Extravasation – choc allergique – dissection aiguë – gestion urgence scanner</a:t>
            </a:r>
            <a:endParaRPr lang="en-US" sz="10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274320" y="5212080"/>
            <a:ext cx="11640312" cy="4983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4320" y="5212080"/>
            <a:ext cx="502920" cy="498348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74320" y="5212080"/>
            <a:ext cx="50292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822960" y="5239512"/>
            <a:ext cx="3474720" cy="2217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clinique &amp; Cas pratiques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822960" y="5424678"/>
            <a:ext cx="3474720" cy="221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</a:t>
            </a: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4389120" y="5239512"/>
            <a:ext cx="7406640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messages clés — Cas cliniques commentés — Révision globale — Erreurs fréquentes à éviter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274320" y="5728716"/>
            <a:ext cx="11640312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4320" y="5728716"/>
            <a:ext cx="502920" cy="49834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74320" y="5728716"/>
            <a:ext cx="50292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822960" y="5756148"/>
            <a:ext cx="3474720" cy="2217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Post-test &amp; Certification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822960" y="5941314"/>
            <a:ext cx="3474720" cy="221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4389120" y="5756148"/>
            <a:ext cx="7406640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 de validation finale — Correction commentée — Délivrance du certificat de formation continue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Refonte Module Scanner Vasculaire — Plan </a:t>
            </a:r>
            <a:r>
              <a:rPr lang="en-US" sz="9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</a:t>
            </a: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9144000" y="65745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ster4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201168"/>
            <a:ext cx="1325880" cy="44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Chapitre 08 — Module Urgences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601200" y="91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transversal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5303520" cy="5120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344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du module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1691640"/>
            <a:ext cx="5074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</a:t>
            </a:r>
            <a:r>
              <a:rPr lang="en-US" sz="12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</a:t>
            </a:r>
            <a:r>
              <a:rPr lang="en-US" sz="12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salle de </a:t>
            </a:r>
            <a:r>
              <a:rPr lang="en-US" sz="12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Conduite à tenir immédiate du </a:t>
            </a:r>
            <a:r>
              <a:rPr lang="en-US" sz="12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</a:t>
            </a:r>
            <a:r>
              <a:rPr lang="en-US" sz="12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complications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d'injection (extravasation, </a:t>
            </a:r>
            <a:r>
              <a:rPr lang="en-US" sz="12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réaction</a:t>
            </a:r>
            <a:r>
              <a:rPr lang="en-US" sz="12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allergique</a:t>
            </a:r>
            <a:r>
              <a:rPr lang="en-US" sz="12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du </a:t>
            </a:r>
            <a:r>
              <a:rPr lang="en-US" sz="12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</a:t>
            </a:r>
            <a:r>
              <a:rPr lang="en-US" sz="12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scanner </a:t>
            </a:r>
            <a:r>
              <a:rPr lang="en-US" sz="12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situation </a:t>
            </a:r>
            <a:r>
              <a:rPr lang="en-US" sz="12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d’urgence</a:t>
            </a:r>
            <a:endParaRPr lang="en-US" sz="1200" dirty="0" smtClean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Gestes d'urgence en salle : position du patient, </a:t>
            </a:r>
            <a:r>
              <a:rPr lang="en-US" sz="12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</a:t>
            </a:r>
            <a:r>
              <a:rPr lang="en-US" sz="12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medical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AVC ischémique — EP massive — Dissection </a:t>
            </a:r>
            <a:r>
              <a:rPr lang="en-US" sz="12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aortique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aiguë</a:t>
            </a:r>
            <a:endParaRPr lang="en-US" sz="1200" dirty="0" smtClean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réflexe par pathologie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0" y="1143000"/>
            <a:ext cx="5943600" cy="5120640"/>
          </a:xfrm>
          <a:prstGeom prst="rect">
            <a:avLst/>
          </a:prstGeom>
          <a:solidFill>
            <a:srgbClr val="FFF3E0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0" y="123444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Réutilisable dans 3 formations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80760" y="1783080"/>
            <a:ext cx="5577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182880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995160" y="1874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Vasculaire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995160" y="23317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natif — </a:t>
            </a:r>
            <a:r>
              <a:rPr lang="en-US" sz="12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80760" y="3108960"/>
            <a:ext cx="5577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315468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995160" y="32004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</a:t>
            </a:r>
            <a:r>
              <a:rPr lang="en-US" sz="1400" b="1" dirty="0" err="1" smtClean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Neurologique</a:t>
            </a:r>
            <a:r>
              <a:rPr lang="en-US" sz="1400" b="1" dirty="0" smtClean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995160" y="3657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AVC, HSA, HTIC, engagement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80760" y="4434840"/>
            <a:ext cx="5577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26480" y="448056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995160" y="45262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Cardiologique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995160" y="4983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SCA, tamponnade, dissection A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943600" y="5486400"/>
            <a:ext cx="594360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35040" y="548640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Créer une fois, déployer dans 3 cours — gain de temps de production significatif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Refonte Module Scanner Vasculaire — Plan </a:t>
            </a:r>
            <a:r>
              <a:rPr lang="en-US" sz="9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</a:t>
            </a: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144000" y="65745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28" name="Imag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357" y="4675441"/>
            <a:ext cx="568643" cy="568643"/>
          </a:xfrm>
          <a:prstGeom prst="rect">
            <a:avLst/>
          </a:prstGeom>
        </p:spPr>
      </p:pic>
      <p:pic>
        <p:nvPicPr>
          <p:cNvPr id="31" name="Image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088" y="1951828"/>
            <a:ext cx="437544" cy="826770"/>
          </a:xfrm>
          <a:prstGeom prst="rect">
            <a:avLst/>
          </a:prstGeom>
        </p:spPr>
      </p:pic>
      <p:pic>
        <p:nvPicPr>
          <p:cNvPr id="34" name="Image 3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992" y="3303746"/>
            <a:ext cx="727735" cy="799148"/>
          </a:xfrm>
          <a:prstGeom prst="rect">
            <a:avLst/>
          </a:prstGeom>
        </p:spPr>
      </p:pic>
      <p:sp>
        <p:nvSpPr>
          <p:cNvPr id="36" name="Shape 20"/>
          <p:cNvSpPr/>
          <p:nvPr/>
        </p:nvSpPr>
        <p:spPr>
          <a:xfrm>
            <a:off x="365760" y="4983480"/>
            <a:ext cx="5303520" cy="12801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7" name="ZoneTexte 36"/>
          <p:cNvSpPr txBox="1"/>
          <p:nvPr/>
        </p:nvSpPr>
        <p:spPr>
          <a:xfrm>
            <a:off x="561109" y="5115728"/>
            <a:ext cx="49128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fr-FR" sz="1200" b="1" u="sng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pédagogiques </a:t>
            </a:r>
            <a:r>
              <a:rPr lang="fr-FR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fr-FR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</a:t>
            </a:r>
            <a:r>
              <a:rPr lang="fr-FR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</a:t>
            </a:r>
            <a:r>
              <a:rPr lang="fr-FR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</a:t>
            </a:r>
          </a:p>
          <a:p>
            <a:pPr marL="171450" indent="-171450">
              <a:buFontTx/>
              <a:buChar char="-"/>
            </a:pPr>
            <a:r>
              <a:rPr lang="fr-FR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</a:t>
            </a:r>
            <a:r>
              <a:rPr lang="fr-FR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fr-FR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</a:t>
            </a:r>
          </a:p>
          <a:p>
            <a:pPr marL="171450" indent="-171450">
              <a:buFontTx/>
              <a:buChar char="-"/>
            </a:pPr>
            <a:r>
              <a:rPr lang="fr-FR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alerter </a:t>
            </a:r>
            <a:r>
              <a:rPr lang="fr-FR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</a:t>
            </a:r>
            <a:r>
              <a:rPr lang="fr-FR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médicale</a:t>
            </a:r>
          </a:p>
          <a:p>
            <a:pPr marL="171450" indent="-171450">
              <a:buFontTx/>
              <a:buChar char="-"/>
            </a:pPr>
            <a:r>
              <a:rPr lang="fr-FR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</a:t>
            </a:r>
            <a:r>
              <a:rPr lang="fr-FR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patient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ster4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201168"/>
            <a:ext cx="1325880" cy="44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Structure </a:t>
            </a:r>
            <a:r>
              <a:rPr lang="en-US" sz="2800" dirty="0" err="1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pédagogique</a:t>
            </a:r>
            <a:r>
              <a:rPr lang="en-US" sz="2800" dirty="0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du module — </a:t>
            </a: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Chaque chapitre de cours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188720"/>
            <a:ext cx="5486400" cy="11704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188720"/>
            <a:ext cx="777240" cy="1170432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1887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65760" y="190195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12618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SMART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16916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à 4 objectifs pédagogiques mesurables en ouverture de chapitre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2496312"/>
            <a:ext cx="5486400" cy="11704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2496312"/>
            <a:ext cx="777240" cy="1170432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496312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2200" dirty="0"/>
              <a:t>📍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65760" y="3209544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34440" y="256946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anatomiques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34440" y="299923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Mini-rappel ciblé sur la zone vasculaire concernée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3803904"/>
            <a:ext cx="5486400" cy="11704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3803904"/>
            <a:ext cx="777240" cy="1170432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3803904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365760" y="4517136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34440" y="387705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technique </a:t>
            </a:r>
            <a:r>
              <a:rPr lang="en-US" sz="1300" b="1" dirty="0" err="1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actualisé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34440" y="430682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mis à jour — NRD ASN 2022 — ESUR v11.0 2023 — Algorithmes IA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" y="5111496"/>
            <a:ext cx="5486400" cy="11704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5760" y="5111496"/>
            <a:ext cx="777240" cy="1170432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5111496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2200" dirty="0" smtClean="0"/>
              <a:t>💡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365760" y="582472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234440" y="518464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</a:t>
            </a:r>
            <a:r>
              <a:rPr lang="en-US" sz="1300" b="1" dirty="0" err="1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</a:t>
            </a:r>
            <a:r>
              <a:rPr lang="en-US" sz="1300" b="1" dirty="0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1300" b="1" dirty="0" err="1" smtClean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retenir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234440" y="5614416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du chapitre – notions essentielles – application pratique</a:t>
            </a:r>
            <a:endParaRPr lang="en-US" sz="11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263640" y="1188720"/>
            <a:ext cx="5486400" cy="11704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1188720"/>
            <a:ext cx="777240" cy="1170432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63640" y="11887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6263640" y="190195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132320" y="12618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Encart Métier MERM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132320" y="16916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terrain, erreurs fréquentes, points de vigilance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263640" y="2496312"/>
            <a:ext cx="5486400" cy="11704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63640" y="2496312"/>
            <a:ext cx="777240" cy="1170432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63640" y="2496312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6263640" y="3209544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132320" y="256946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clinique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7132320" y="299923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cas par chapitre — images commentées — discussion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263640" y="3803904"/>
            <a:ext cx="5486400" cy="11704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263640" y="3803904"/>
            <a:ext cx="777240" cy="1170432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263640" y="3803904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6263640" y="4517136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7132320" y="387705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formatif (3–5 QCM)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7132320" y="430682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formative en clôture — correction immédiate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Refonte Module Scanner Vasculaire — Plan </a:t>
            </a:r>
            <a:r>
              <a:rPr lang="en-US" sz="9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</a:t>
            </a: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9144000" y="65745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ster4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201168"/>
            <a:ext cx="1325880" cy="44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Méthodologie de conception du module</a:t>
            </a:r>
            <a:endParaRPr lang="fr-FR" sz="2800" dirty="0"/>
          </a:p>
        </p:txBody>
      </p:sp>
      <p:sp>
        <p:nvSpPr>
          <p:cNvPr id="5" name="Shape R1bg"/>
          <p:cNvSpPr/>
          <p:nvPr/>
        </p:nvSpPr>
        <p:spPr>
          <a:xfrm>
            <a:off x="365760" y="1143000"/>
            <a:ext cx="1143000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Shape R1left"/>
          <p:cNvSpPr/>
          <p:nvPr/>
        </p:nvSpPr>
        <p:spPr>
          <a:xfrm>
            <a:off x="365760" y="1143000"/>
            <a:ext cx="1280160" cy="804672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7" name="Text R1label"/>
          <p:cNvSpPr/>
          <p:nvPr/>
        </p:nvSpPr>
        <p:spPr>
          <a:xfrm>
            <a:off x="365760" y="1143000"/>
            <a:ext cx="1280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fr-FR" sz="1800" dirty="0"/>
          </a:p>
        </p:txBody>
      </p:sp>
      <p:sp>
        <p:nvSpPr>
          <p:cNvPr id="8" name="Text R1title"/>
          <p:cNvSpPr/>
          <p:nvPr/>
        </p:nvSpPr>
        <p:spPr>
          <a:xfrm>
            <a:off x="1783080" y="1188720"/>
            <a:ext cx="943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 l’architecture pédagogique</a:t>
            </a:r>
            <a:endParaRPr lang="fr-FR" sz="1300" dirty="0"/>
          </a:p>
        </p:txBody>
      </p:sp>
      <p:sp>
        <p:nvSpPr>
          <p:cNvPr id="9" name="Text R1desc"/>
          <p:cNvSpPr/>
          <p:nvPr/>
        </p:nvSpPr>
        <p:spPr>
          <a:xfrm>
            <a:off x="1783080" y="1536192"/>
            <a:ext cx="9430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</a:t>
            </a:r>
            <a:r>
              <a:rPr lang="fr-FR" sz="11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module, objectifs pédagogiques, </a:t>
            </a:r>
            <a:r>
              <a:rPr lang="fr-FR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des chapitres</a:t>
            </a:r>
            <a:endParaRPr lang="fr-FR" sz="1100" dirty="0"/>
          </a:p>
        </p:txBody>
      </p:sp>
      <p:sp>
        <p:nvSpPr>
          <p:cNvPr id="10" name="Shape R2bg"/>
          <p:cNvSpPr/>
          <p:nvPr/>
        </p:nvSpPr>
        <p:spPr>
          <a:xfrm>
            <a:off x="365760" y="2297430"/>
            <a:ext cx="11430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R2left"/>
          <p:cNvSpPr/>
          <p:nvPr/>
        </p:nvSpPr>
        <p:spPr>
          <a:xfrm>
            <a:off x="365760" y="2297430"/>
            <a:ext cx="1280160" cy="804672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12" name="Text R2label"/>
          <p:cNvSpPr/>
          <p:nvPr/>
        </p:nvSpPr>
        <p:spPr>
          <a:xfrm>
            <a:off x="365760" y="2297430"/>
            <a:ext cx="1280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fr-FR" sz="1800" dirty="0"/>
          </a:p>
        </p:txBody>
      </p:sp>
      <p:sp>
        <p:nvSpPr>
          <p:cNvPr id="13" name="Text R2title"/>
          <p:cNvSpPr/>
          <p:nvPr/>
        </p:nvSpPr>
        <p:spPr>
          <a:xfrm>
            <a:off x="1783080" y="2343150"/>
            <a:ext cx="943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détaillée des chapitres</a:t>
            </a:r>
            <a:endParaRPr lang="fr-FR" sz="1300" dirty="0"/>
          </a:p>
        </p:txBody>
      </p:sp>
      <p:sp>
        <p:nvSpPr>
          <p:cNvPr id="14" name="Text R2desc"/>
          <p:cNvSpPr/>
          <p:nvPr/>
        </p:nvSpPr>
        <p:spPr>
          <a:xfrm>
            <a:off x="1783080" y="2690622"/>
            <a:ext cx="9430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des contenus scientifiques et techniques, structuration des diapositives</a:t>
            </a:r>
            <a:endParaRPr lang="fr-FR" sz="1100" dirty="0"/>
          </a:p>
        </p:txBody>
      </p:sp>
      <p:sp>
        <p:nvSpPr>
          <p:cNvPr id="15" name="Shape R3bg"/>
          <p:cNvSpPr/>
          <p:nvPr/>
        </p:nvSpPr>
        <p:spPr>
          <a:xfrm>
            <a:off x="365760" y="3451860"/>
            <a:ext cx="1143000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R3left"/>
          <p:cNvSpPr/>
          <p:nvPr/>
        </p:nvSpPr>
        <p:spPr>
          <a:xfrm>
            <a:off x="365760" y="3451860"/>
            <a:ext cx="1280160" cy="804672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17" name="Text R3label"/>
          <p:cNvSpPr/>
          <p:nvPr/>
        </p:nvSpPr>
        <p:spPr>
          <a:xfrm>
            <a:off x="365760" y="3451860"/>
            <a:ext cx="1280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fr-FR" sz="1800" dirty="0"/>
          </a:p>
        </p:txBody>
      </p:sp>
      <p:sp>
        <p:nvSpPr>
          <p:cNvPr id="18" name="Text R3title"/>
          <p:cNvSpPr/>
          <p:nvPr/>
        </p:nvSpPr>
        <p:spPr>
          <a:xfrm>
            <a:off x="1783080" y="3497580"/>
            <a:ext cx="943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des supports visuels</a:t>
            </a:r>
            <a:endParaRPr lang="fr-FR" sz="1300" dirty="0"/>
          </a:p>
        </p:txBody>
      </p:sp>
      <p:sp>
        <p:nvSpPr>
          <p:cNvPr id="19" name="Text R3desc"/>
          <p:cNvSpPr/>
          <p:nvPr/>
        </p:nvSpPr>
        <p:spPr>
          <a:xfrm>
            <a:off x="1783080" y="3845052"/>
            <a:ext cx="9430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scanographiques, schémas pédagogiques, reconstructions anatomiques</a:t>
            </a:r>
            <a:endParaRPr lang="fr-FR" sz="1100" dirty="0"/>
          </a:p>
        </p:txBody>
      </p:sp>
      <p:sp>
        <p:nvSpPr>
          <p:cNvPr id="20" name="Shape R4bg"/>
          <p:cNvSpPr/>
          <p:nvPr/>
        </p:nvSpPr>
        <p:spPr>
          <a:xfrm>
            <a:off x="365760" y="4606290"/>
            <a:ext cx="11430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Shape R4left"/>
          <p:cNvSpPr/>
          <p:nvPr/>
        </p:nvSpPr>
        <p:spPr>
          <a:xfrm>
            <a:off x="365760" y="4606290"/>
            <a:ext cx="1280160" cy="804672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22" name="Text R4label"/>
          <p:cNvSpPr/>
          <p:nvPr/>
        </p:nvSpPr>
        <p:spPr>
          <a:xfrm>
            <a:off x="365760" y="4606290"/>
            <a:ext cx="1280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fr-FR" sz="1800" dirty="0"/>
          </a:p>
        </p:txBody>
      </p:sp>
      <p:sp>
        <p:nvSpPr>
          <p:cNvPr id="23" name="Text R4title"/>
          <p:cNvSpPr/>
          <p:nvPr/>
        </p:nvSpPr>
        <p:spPr>
          <a:xfrm>
            <a:off x="1783080" y="4652010"/>
            <a:ext cx="943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des évaluations formatives</a:t>
            </a:r>
            <a:endParaRPr lang="fr-FR" sz="1300" dirty="0"/>
          </a:p>
        </p:txBody>
      </p:sp>
      <p:sp>
        <p:nvSpPr>
          <p:cNvPr id="24" name="Text R4desc"/>
          <p:cNvSpPr/>
          <p:nvPr/>
        </p:nvSpPr>
        <p:spPr>
          <a:xfrm>
            <a:off x="1783080" y="4999482"/>
            <a:ext cx="9430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formatifs, cas cliniques commentés, analyse d’images</a:t>
            </a:r>
            <a:endParaRPr lang="fr-FR" sz="1100" dirty="0"/>
          </a:p>
        </p:txBody>
      </p:sp>
      <p:sp>
        <p:nvSpPr>
          <p:cNvPr id="25" name="Shape R5bg"/>
          <p:cNvSpPr/>
          <p:nvPr/>
        </p:nvSpPr>
        <p:spPr>
          <a:xfrm>
            <a:off x="365760" y="5760720"/>
            <a:ext cx="1143000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Shape R5left"/>
          <p:cNvSpPr/>
          <p:nvPr/>
        </p:nvSpPr>
        <p:spPr>
          <a:xfrm>
            <a:off x="365760" y="5760720"/>
            <a:ext cx="1280160" cy="804672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27" name="Text R5label"/>
          <p:cNvSpPr/>
          <p:nvPr/>
        </p:nvSpPr>
        <p:spPr>
          <a:xfrm>
            <a:off x="365760" y="5760720"/>
            <a:ext cx="1280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fr-FR" sz="1800" dirty="0"/>
          </a:p>
        </p:txBody>
      </p:sp>
      <p:sp>
        <p:nvSpPr>
          <p:cNvPr id="28" name="Text R5title"/>
          <p:cNvSpPr/>
          <p:nvPr/>
        </p:nvSpPr>
        <p:spPr>
          <a:xfrm>
            <a:off x="1783080" y="5806440"/>
            <a:ext cx="943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Relecture scientifique et validation pédagogique</a:t>
            </a:r>
            <a:endParaRPr lang="fr-FR" sz="1300" dirty="0"/>
          </a:p>
        </p:txBody>
      </p:sp>
      <p:sp>
        <p:nvSpPr>
          <p:cNvPr id="29" name="Text R5desc"/>
          <p:cNvSpPr/>
          <p:nvPr/>
        </p:nvSpPr>
        <p:spPr>
          <a:xfrm>
            <a:off x="1783080" y="6153912"/>
            <a:ext cx="9430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scientifique, cohérence pédagogique, validation finale</a:t>
            </a:r>
            <a:endParaRPr lang="fr-FR" sz="1100" dirty="0"/>
          </a:p>
        </p:txBody>
      </p:sp>
      <p:sp>
        <p:nvSpPr>
          <p:cNvPr id="30" name="Shape Footer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31" name="Text FooterLeft"/>
          <p:cNvSpPr/>
          <p:nvPr/>
        </p:nvSpPr>
        <p:spPr>
          <a:xfrm>
            <a:off x="365760" y="6574536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Refonte Module Scanner Vasculaire — Plan Général 2026</a:t>
            </a:r>
            <a:endParaRPr lang="fr-FR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ster4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201168"/>
            <a:ext cx="1325880" cy="44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Bénéfices pour l'organisme de formation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188720"/>
            <a:ext cx="548640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188720"/>
            <a:ext cx="164592" cy="237744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325880" y="13716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certifiant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1792" y="21031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Pré-test + Post-test + certificat de formation continue — valorisation de l'offre et fidélisation des apprenants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188720"/>
            <a:ext cx="548640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63640" y="1188720"/>
            <a:ext cx="164592" cy="2377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9672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♻️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223760" y="13716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réutilisable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19672" y="21031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module Urgences (Ch.08) est produit une seule fois et déployé dans 3 formations : Scanner Vasculaire, Neuro et Cardio — économie de production significative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3749040"/>
            <a:ext cx="548640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3749040"/>
            <a:ext cx="164592" cy="23774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1325880" y="39319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scientifique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1792" y="466344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aligné sur les dernières recommandations 2025 : NRD ASN 2022, ESUR v11.0 2023, algorithmes IA, Photon Counting CT — crédibilité renforcée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3749040"/>
            <a:ext cx="548640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3749040"/>
            <a:ext cx="164592" cy="2377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19672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223760" y="39319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plus attractive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19672" y="466344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</a:t>
            </a:r>
            <a:r>
              <a:rPr lang="en-US" sz="12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pédagogique</a:t>
            </a:r>
            <a:r>
              <a:rPr lang="en-US" sz="12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améliorée</a:t>
            </a:r>
            <a:r>
              <a:rPr lang="en-US" sz="12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cliniques, quiz interactifs et encarts métier MERM — amélioration de l'expérience apprenant et des évaluations de satisfaction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Refonte Module Scanner Vasculaire — Plan </a:t>
            </a:r>
            <a:r>
              <a:rPr lang="en-US" sz="9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</a:t>
            </a: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144000" y="65745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ster4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201168"/>
            <a:ext cx="132588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 que je </a:t>
            </a:r>
            <a:r>
              <a:rPr lang="en-US" sz="3400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vous</a:t>
            </a:r>
            <a:r>
              <a:rPr lang="en-US" sz="3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3400" dirty="0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propose de </a:t>
            </a:r>
            <a:r>
              <a:rPr lang="en-US" sz="3400" dirty="0" err="1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valider</a:t>
            </a:r>
            <a:r>
              <a:rPr lang="en-US" sz="3400" dirty="0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3400" dirty="0" err="1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aujourd’hui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508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à valider lors de cette réunion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10881360" cy="914400"/>
          </a:xfrm>
          <a:prstGeom prst="rect">
            <a:avLst/>
          </a:prstGeom>
          <a:solidFill>
            <a:srgbClr val="A50000"/>
          </a:solidFill>
          <a:ln w="12700">
            <a:solidFill>
              <a:srgbClr val="D050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222199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221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2112264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 l'architecture en 10 chapitres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2478024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structure proposée vous convient-elle ? Des ajustements sur l'ordre ou le périmètre des chapitres 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108960"/>
            <a:ext cx="10881360" cy="914400"/>
          </a:xfrm>
          <a:prstGeom prst="rect">
            <a:avLst/>
          </a:prstGeom>
          <a:solidFill>
            <a:srgbClr val="A50000"/>
          </a:solidFill>
          <a:ln w="12700">
            <a:solidFill>
              <a:srgbClr val="D050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327355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3273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3163824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 vert sur le module Urgences transversal (Ch.08)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71600" y="3529584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que ce module pourra bien être réutilisé dans les formations Scanner Neuro et Scanner </a:t>
            </a:r>
            <a:r>
              <a:rPr lang="en-US" sz="1100" dirty="0" smtClean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 avec de </a:t>
            </a:r>
            <a:r>
              <a:rPr lang="en-US" sz="1100" dirty="0" err="1" smtClean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légères</a:t>
            </a:r>
            <a:r>
              <a:rPr lang="en-US" sz="1100" dirty="0" smtClean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adaptations.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4160520"/>
            <a:ext cx="10881360" cy="914400"/>
          </a:xfrm>
          <a:prstGeom prst="rect">
            <a:avLst/>
          </a:prstGeom>
          <a:solidFill>
            <a:srgbClr val="A50000"/>
          </a:solidFill>
          <a:ln w="12700">
            <a:solidFill>
              <a:srgbClr val="D050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432511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43251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4215384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fr-FR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Modalités de production du module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371600" y="4581144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1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cadre de développement du module : priorités, ressources mobilisables et modalités de suivi du projet.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solidFill>
            <a:srgbClr val="A50000"/>
          </a:solidFill>
          <a:ln w="12700">
            <a:solidFill>
              <a:srgbClr val="D0505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" y="537667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5376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371600" y="5266944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aux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pédagogiques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371600" y="5632704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1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Possibilité d'utiliser des banques d’images pédagogiques libres (ex. </a:t>
            </a:r>
            <a:r>
              <a:rPr lang="fr-FR" sz="1100" dirty="0" err="1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Radiopaedia</a:t>
            </a:r>
            <a:r>
              <a:rPr lang="fr-FR" sz="11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pour illustrer les cas cliniques et les protocoles scanner.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0080" y="626364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196468C-4F82-4BFB-8012-71D6C62C6DC1}">
  <we:reference id="wa104380121" version="2.0.0.0" store="fr-FR" storeType="OMEX"/>
  <we:alternateReferences>
    <we:reference id="WA104380121" version="2.0.0.0" store="WA10438012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1150</Words>
  <Application>Microsoft Office PowerPoint</Application>
  <PresentationFormat>Grand écran</PresentationFormat>
  <Paragraphs>230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Refonte Module Scanner Vasculaire — Plan Général 2025</dc:title>
  <dc:subject>PptxGenJS Presentation</dc:subject>
  <dc:creator>PptxGenJS</dc:creator>
  <cp:lastModifiedBy>TNI</cp:lastModifiedBy>
  <cp:revision>24</cp:revision>
  <dcterms:created xsi:type="dcterms:W3CDTF">2026-03-08T13:05:45Z</dcterms:created>
  <dcterms:modified xsi:type="dcterms:W3CDTF">2026-03-10T23:12:26Z</dcterms:modified>
</cp:coreProperties>
</file>